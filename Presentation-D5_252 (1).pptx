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Inter 1" panose="020B0604020202020204" charset="0"/>
      <p:regular r:id="rId21"/>
    </p:embeddedFont>
    <p:embeddedFont>
      <p:font typeface="Inter 1 Bold" panose="020B0604020202020204" charset="0"/>
      <p:regular r:id="rId22"/>
    </p:embeddedFont>
    <p:embeddedFont>
      <p:font typeface="Inter 2 Bold" panose="020B0604020202020204" charset="0"/>
      <p:regular r:id="rId23"/>
    </p:embeddedFont>
    <p:embeddedFont>
      <p:font typeface="Roboto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4.svg"/><Relationship Id="rId5" Type="http://schemas.openxmlformats.org/officeDocument/2006/relationships/image" Target="../media/image17.svg"/><Relationship Id="rId10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docs.google.com/spreadsheets/d/1b1VsnaJ0DIBr8Qaqjzv3H0rKnOpGK3De0vCSPMNZv2s/edit?usp=sharing" TargetMode="External"/><Relationship Id="rId4" Type="http://schemas.openxmlformats.org/officeDocument/2006/relationships/image" Target="../media/image22.pn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hyperlink" Target="https://docs.google.com/spreadsheets/d/1b1VsnaJ0DIBr8Qaqjzv3H0rKnOpGK3De0vCSPMNZv2s/edit?usp=sharing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503.16541" TargetMode="External"/><Relationship Id="rId5" Type="http://schemas.openxmlformats.org/officeDocument/2006/relationships/hyperlink" Target="https://arxiv.org/html/2510.06265v2" TargetMode="External"/><Relationship Id="rId4" Type="http://schemas.openxmlformats.org/officeDocument/2006/relationships/hyperlink" Target="https://arxiv.org/html/2405.19648v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58129" y="-2195789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55256" y="3892502"/>
            <a:ext cx="16197664" cy="104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Hallucination Detection in Bangla LLM Outputs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0" y="8623094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553271" y="4940238"/>
            <a:ext cx="6553200" cy="1304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Presented by </a:t>
            </a:r>
            <a:r>
              <a:rPr lang="en-US" sz="3799" b="1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D5-252</a:t>
            </a:r>
            <a:r>
              <a:rPr lang="en-US" sz="3799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</a:t>
            </a:r>
          </a:p>
          <a:p>
            <a:pPr algn="ctr">
              <a:lnSpc>
                <a:spcPts val="5319"/>
              </a:lnSpc>
            </a:pPr>
            <a:r>
              <a:rPr lang="en-US" sz="3799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(</a:t>
            </a:r>
            <a:r>
              <a:rPr lang="en-US" sz="3799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Hallucination Hunters)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20600" y="8115300"/>
            <a:ext cx="5258799" cy="17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Supervised By: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Dr. </a:t>
            </a:r>
            <a:r>
              <a:rPr lang="en-US" sz="2500" dirty="0" err="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Ohidujjaman</a:t>
            </a:r>
            <a:r>
              <a:rPr lang="en-US" sz="25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Assistant Professor, </a:t>
            </a:r>
            <a:r>
              <a:rPr lang="en-US" sz="2500" dirty="0" err="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Dept.of</a:t>
            </a:r>
            <a:r>
              <a:rPr lang="en-US" sz="25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CSE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United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58129" y="-2195789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60280" y="2681971"/>
            <a:ext cx="6539182" cy="104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Group Members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0" y="8623094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78341" y="4847946"/>
            <a:ext cx="58425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Robiul Islam Tamim - 011212039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08936" y="9500411"/>
            <a:ext cx="18740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8341" y="5533746"/>
            <a:ext cx="51721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Israt Jahan Rani - 011201376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78341" y="6219546"/>
            <a:ext cx="58425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Jahinur</a:t>
            </a: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Islam </a:t>
            </a:r>
            <a:r>
              <a:rPr lang="en-US" sz="3000" dirty="0" err="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Tonim</a:t>
            </a: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- 011212152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52205" y="4847946"/>
            <a:ext cx="58425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Alif Bin </a:t>
            </a:r>
            <a:r>
              <a:rPr lang="en-US" sz="3000" dirty="0" err="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Tanam</a:t>
            </a: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- 011212098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52205" y="5533746"/>
            <a:ext cx="51721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Rohit Gupta - 011212148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52205" y="6219546"/>
            <a:ext cx="58425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Mymuna</a:t>
            </a: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Nourin</a:t>
            </a: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- 011212052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13495" y="3120779"/>
            <a:ext cx="3663505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3495" y="4089154"/>
            <a:ext cx="1910905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Why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13495" y="5057529"/>
            <a:ext cx="2749105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3495" y="6025904"/>
            <a:ext cx="4806505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Literature Review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13495" y="6994279"/>
            <a:ext cx="378055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Gap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4503" y="3120779"/>
            <a:ext cx="557749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Dataset Construction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4502" y="4089154"/>
            <a:ext cx="435829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Sample Dataset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502" y="5057529"/>
            <a:ext cx="245329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Result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502" y="6025904"/>
            <a:ext cx="5050004" cy="57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Result Comparison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502" y="6994279"/>
            <a:ext cx="336769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Limitations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94053" y="999982"/>
            <a:ext cx="5099893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13495" y="8044667"/>
            <a:ext cx="378055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Methodology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24502" y="7962654"/>
            <a:ext cx="367249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Future Work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24502" y="8931029"/>
            <a:ext cx="3367698" cy="576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Conclusion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21" name="Freeform 21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7503579" y="9500411"/>
            <a:ext cx="19812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92505" y="3275331"/>
            <a:ext cx="405881" cy="405881"/>
          </a:xfrm>
          <a:custGeom>
            <a:avLst/>
            <a:gdLst/>
            <a:ahLst/>
            <a:cxnLst/>
            <a:rect l="l" t="t" r="r" b="b"/>
            <a:pathLst>
              <a:path w="405881" h="405881">
                <a:moveTo>
                  <a:pt x="0" y="0"/>
                </a:moveTo>
                <a:lnTo>
                  <a:pt x="405882" y="0"/>
                </a:lnTo>
                <a:lnTo>
                  <a:pt x="405882" y="405882"/>
                </a:lnTo>
                <a:lnTo>
                  <a:pt x="0" y="40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98834" y="3078021"/>
            <a:ext cx="793224" cy="800502"/>
          </a:xfrm>
          <a:custGeom>
            <a:avLst/>
            <a:gdLst/>
            <a:ahLst/>
            <a:cxnLst/>
            <a:rect l="l" t="t" r="r" b="b"/>
            <a:pathLst>
              <a:path w="793224" h="800502">
                <a:moveTo>
                  <a:pt x="0" y="0"/>
                </a:moveTo>
                <a:lnTo>
                  <a:pt x="793224" y="0"/>
                </a:lnTo>
                <a:lnTo>
                  <a:pt x="793224" y="800502"/>
                </a:lnTo>
                <a:lnTo>
                  <a:pt x="0" y="800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667754" y="3944831"/>
            <a:ext cx="4134297" cy="1298873"/>
            <a:chOff x="-3448" y="-19050"/>
            <a:chExt cx="659642" cy="2072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6194" cy="169140"/>
            </a:xfrm>
            <a:custGeom>
              <a:avLst/>
              <a:gdLst/>
              <a:ahLst/>
              <a:cxnLst/>
              <a:rect l="l" t="t" r="r" b="b"/>
              <a:pathLst>
                <a:path w="656194" h="169140">
                  <a:moveTo>
                    <a:pt x="58356" y="0"/>
                  </a:moveTo>
                  <a:lnTo>
                    <a:pt x="597838" y="0"/>
                  </a:lnTo>
                  <a:cubicBezTo>
                    <a:pt x="630067" y="0"/>
                    <a:pt x="656194" y="26127"/>
                    <a:pt x="656194" y="58356"/>
                  </a:cubicBezTo>
                  <a:lnTo>
                    <a:pt x="656194" y="110784"/>
                  </a:lnTo>
                  <a:cubicBezTo>
                    <a:pt x="656194" y="126261"/>
                    <a:pt x="650046" y="141104"/>
                    <a:pt x="639102" y="152048"/>
                  </a:cubicBezTo>
                  <a:cubicBezTo>
                    <a:pt x="628158" y="162992"/>
                    <a:pt x="613315" y="169140"/>
                    <a:pt x="597838" y="169140"/>
                  </a:cubicBezTo>
                  <a:lnTo>
                    <a:pt x="58356" y="169140"/>
                  </a:lnTo>
                  <a:cubicBezTo>
                    <a:pt x="42879" y="169140"/>
                    <a:pt x="28036" y="162992"/>
                    <a:pt x="17092" y="152048"/>
                  </a:cubicBezTo>
                  <a:cubicBezTo>
                    <a:pt x="6148" y="141104"/>
                    <a:pt x="0" y="126261"/>
                    <a:pt x="0" y="110784"/>
                  </a:cubicBezTo>
                  <a:lnTo>
                    <a:pt x="0" y="58356"/>
                  </a:lnTo>
                  <a:cubicBezTo>
                    <a:pt x="0" y="42879"/>
                    <a:pt x="6148" y="28036"/>
                    <a:pt x="17092" y="17092"/>
                  </a:cubicBezTo>
                  <a:cubicBezTo>
                    <a:pt x="28036" y="6148"/>
                    <a:pt x="42879" y="0"/>
                    <a:pt x="58356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-3448" y="-19050"/>
              <a:ext cx="656194" cy="207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“</a:t>
              </a: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বাংলাদেশের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সবচেয়ে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বড়</a:t>
              </a:r>
              <a:endParaRPr lang="en-US" sz="2400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নদী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কোনটি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?”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14700208" y="5705140"/>
            <a:ext cx="0" cy="5971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Freeform 11"/>
          <p:cNvSpPr/>
          <p:nvPr/>
        </p:nvSpPr>
        <p:spPr>
          <a:xfrm>
            <a:off x="14353822" y="6453535"/>
            <a:ext cx="967540" cy="1219741"/>
          </a:xfrm>
          <a:custGeom>
            <a:avLst/>
            <a:gdLst/>
            <a:ahLst/>
            <a:cxnLst/>
            <a:rect l="l" t="t" r="r" b="b"/>
            <a:pathLst>
              <a:path w="967540" h="1219741">
                <a:moveTo>
                  <a:pt x="0" y="0"/>
                </a:moveTo>
                <a:lnTo>
                  <a:pt x="967540" y="0"/>
                </a:lnTo>
                <a:lnTo>
                  <a:pt x="967540" y="1219741"/>
                </a:lnTo>
                <a:lnTo>
                  <a:pt x="0" y="12197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08" r="-1608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2803428" y="8372704"/>
            <a:ext cx="4068327" cy="1298873"/>
            <a:chOff x="0" y="-19050"/>
            <a:chExt cx="649116" cy="2072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9116" cy="169140"/>
            </a:xfrm>
            <a:custGeom>
              <a:avLst/>
              <a:gdLst/>
              <a:ahLst/>
              <a:cxnLst/>
              <a:rect l="l" t="t" r="r" b="b"/>
              <a:pathLst>
                <a:path w="649116" h="169140">
                  <a:moveTo>
                    <a:pt x="58992" y="0"/>
                  </a:moveTo>
                  <a:lnTo>
                    <a:pt x="590124" y="0"/>
                  </a:lnTo>
                  <a:cubicBezTo>
                    <a:pt x="622705" y="0"/>
                    <a:pt x="649116" y="26412"/>
                    <a:pt x="649116" y="58992"/>
                  </a:cubicBezTo>
                  <a:lnTo>
                    <a:pt x="649116" y="110148"/>
                  </a:lnTo>
                  <a:cubicBezTo>
                    <a:pt x="649116" y="125793"/>
                    <a:pt x="642901" y="140798"/>
                    <a:pt x="631838" y="151861"/>
                  </a:cubicBezTo>
                  <a:cubicBezTo>
                    <a:pt x="620775" y="162925"/>
                    <a:pt x="605770" y="169140"/>
                    <a:pt x="590124" y="169140"/>
                  </a:cubicBezTo>
                  <a:lnTo>
                    <a:pt x="58992" y="169140"/>
                  </a:lnTo>
                  <a:cubicBezTo>
                    <a:pt x="43346" y="169140"/>
                    <a:pt x="28342" y="162925"/>
                    <a:pt x="17278" y="151861"/>
                  </a:cubicBezTo>
                  <a:cubicBezTo>
                    <a:pt x="6215" y="140798"/>
                    <a:pt x="0" y="125793"/>
                    <a:pt x="0" y="110148"/>
                  </a:cubicBezTo>
                  <a:lnTo>
                    <a:pt x="0" y="58992"/>
                  </a:lnTo>
                  <a:cubicBezTo>
                    <a:pt x="0" y="43346"/>
                    <a:pt x="6215" y="28342"/>
                    <a:pt x="17278" y="17278"/>
                  </a:cubicBezTo>
                  <a:cubicBezTo>
                    <a:pt x="28342" y="6215"/>
                    <a:pt x="43346" y="0"/>
                    <a:pt x="58992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49116" cy="207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বাংলাদেশের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সবচেয়ে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বড়</a:t>
              </a:r>
              <a:endParaRPr lang="en-US" sz="2400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নদী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400" b="1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মেঘনা</a:t>
              </a:r>
              <a:r>
                <a:rPr lang="en-US" sz="2400" b="1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|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4725540" y="7844521"/>
            <a:ext cx="0" cy="4862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/>
          <p:cNvSpPr txBox="1"/>
          <p:nvPr/>
        </p:nvSpPr>
        <p:spPr>
          <a:xfrm>
            <a:off x="1025950" y="1288884"/>
            <a:ext cx="15111972" cy="144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84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What is Hallucination in LLMs?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5950" y="3704672"/>
            <a:ext cx="10366615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When a Large Language Model produces wrong, irrelevant, or made-up information confidently, which looks real.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35689" y="5127100"/>
            <a:ext cx="2020036" cy="42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7"/>
              </a:lnSpc>
            </a:pPr>
            <a:r>
              <a:rPr lang="en-US" sz="254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 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27765" y="9554974"/>
            <a:ext cx="2020036" cy="42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7"/>
              </a:lnSpc>
            </a:pPr>
            <a:r>
              <a:rPr lang="en-US" sz="254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respond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5256" y="6408671"/>
            <a:ext cx="11246563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Example: 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If you ask:</a:t>
            </a:r>
            <a:r>
              <a:rPr lang="en-US" sz="34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“বাংলাদেশের সবচেয়ে বড় নদী কোনটি?”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AI incorrectly answers </a:t>
            </a:r>
            <a:r>
              <a:rPr lang="en-US" sz="34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“মেঘনা নদী” instead of “পদ্মা নদী”.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22" name="Freeform 22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7497566" y="9500411"/>
            <a:ext cx="21014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13257" y="4333169"/>
            <a:ext cx="5205781" cy="4694668"/>
          </a:xfrm>
          <a:custGeom>
            <a:avLst/>
            <a:gdLst/>
            <a:ahLst/>
            <a:cxnLst/>
            <a:rect l="l" t="t" r="r" b="b"/>
            <a:pathLst>
              <a:path w="5205781" h="4694668">
                <a:moveTo>
                  <a:pt x="0" y="0"/>
                </a:moveTo>
                <a:lnTo>
                  <a:pt x="5205781" y="0"/>
                </a:lnTo>
                <a:lnTo>
                  <a:pt x="5205781" y="4694668"/>
                </a:lnTo>
                <a:lnTo>
                  <a:pt x="0" y="469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864915">
            <a:off x="15128464" y="3769403"/>
            <a:ext cx="1819983" cy="2727495"/>
          </a:xfrm>
          <a:custGeom>
            <a:avLst/>
            <a:gdLst/>
            <a:ahLst/>
            <a:cxnLst/>
            <a:rect l="l" t="t" r="r" b="b"/>
            <a:pathLst>
              <a:path w="1819983" h="2727495">
                <a:moveTo>
                  <a:pt x="0" y="0"/>
                </a:moveTo>
                <a:lnTo>
                  <a:pt x="1819983" y="0"/>
                </a:lnTo>
                <a:lnTo>
                  <a:pt x="1819983" y="2727495"/>
                </a:lnTo>
                <a:lnTo>
                  <a:pt x="0" y="2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55256" y="1633855"/>
            <a:ext cx="15438391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Why did we choose this topic?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7507" y="4034155"/>
            <a:ext cx="8719784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Bangla is the 7th most spoken language (230M+ speakers), but: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7507" y="5544820"/>
            <a:ext cx="9031546" cy="275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No Bangla hallucination benchmark exists.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No Bangla detection framework exists.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No fine-tuned Bangla hallucination classifier exists.</a:t>
            </a:r>
          </a:p>
          <a:p>
            <a:pPr algn="just">
              <a:lnSpc>
                <a:spcPts val="4199"/>
              </a:lnSpc>
            </a:pPr>
            <a:endParaRPr lang="en-US" sz="3199">
              <a:solidFill>
                <a:srgbClr val="000000"/>
              </a:solidFill>
              <a:latin typeface="Inter 1"/>
              <a:ea typeface="Inter 1"/>
              <a:cs typeface="Inter 1"/>
              <a:sym typeface="Inter 1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492030" y="9500411"/>
            <a:ext cx="22121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6705601" y="2340020"/>
            <a:ext cx="0" cy="40212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6" name="AutoShape 6"/>
          <p:cNvSpPr/>
          <p:nvPr/>
        </p:nvSpPr>
        <p:spPr>
          <a:xfrm flipH="1">
            <a:off x="6705601" y="4381500"/>
            <a:ext cx="16671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535218" y="7766235"/>
            <a:ext cx="759122" cy="720475"/>
          </a:xfrm>
          <a:custGeom>
            <a:avLst/>
            <a:gdLst/>
            <a:ahLst/>
            <a:cxnLst/>
            <a:rect l="l" t="t" r="r" b="b"/>
            <a:pathLst>
              <a:path w="759122" h="720475">
                <a:moveTo>
                  <a:pt x="0" y="0"/>
                </a:moveTo>
                <a:lnTo>
                  <a:pt x="759122" y="0"/>
                </a:lnTo>
                <a:lnTo>
                  <a:pt x="759122" y="720476"/>
                </a:lnTo>
                <a:lnTo>
                  <a:pt x="0" y="720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779" y="3548971"/>
            <a:ext cx="4405116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86930" y="1797094"/>
            <a:ext cx="892929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Misinformation : </a:t>
            </a: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Users may believe false outputs (wrong medical or historical facts).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1210" y="3812496"/>
            <a:ext cx="874073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Trust issues: </a:t>
            </a: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If AI consistently gives wrong answers, people lose faith in technology.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75490" y="5585010"/>
            <a:ext cx="8929295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Bangla Context : </a:t>
            </a: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Since there are fewer verified Bangla datasets, hallucination risk is higher for Bangla users compared to English users.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7621" y="7901304"/>
            <a:ext cx="16585674" cy="464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Suppose, a student uses Bangla AI for exam preparation, hallucinated answers may cause failure.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495661" y="9500411"/>
            <a:ext cx="21395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FE6E4100-0D5F-4E7D-82BF-E3DE5C7A37AB}"/>
              </a:ext>
            </a:extLst>
          </p:cNvPr>
          <p:cNvSpPr/>
          <p:nvPr/>
        </p:nvSpPr>
        <p:spPr>
          <a:xfrm flipH="1">
            <a:off x="6705601" y="6336846"/>
            <a:ext cx="16671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059F6B36-A2C5-4217-DD5D-9B8FEF28D812}"/>
              </a:ext>
            </a:extLst>
          </p:cNvPr>
          <p:cNvSpPr/>
          <p:nvPr/>
        </p:nvSpPr>
        <p:spPr>
          <a:xfrm flipH="1">
            <a:off x="6705601" y="2340020"/>
            <a:ext cx="16671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572567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7971" y="8027770"/>
            <a:ext cx="17009980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None of these works provide a dedicated, supervised hallucination detection framework specifically designed for Bangla with a manually annotated dataset and fine-tuned transformer models.</a:t>
            </a:r>
          </a:p>
        </p:txBody>
      </p:sp>
      <p:sp>
        <p:nvSpPr>
          <p:cNvPr id="6" name="Freeform 6"/>
          <p:cNvSpPr/>
          <p:nvPr/>
        </p:nvSpPr>
        <p:spPr>
          <a:xfrm>
            <a:off x="442428" y="8005053"/>
            <a:ext cx="531085" cy="504048"/>
          </a:xfrm>
          <a:custGeom>
            <a:avLst/>
            <a:gdLst/>
            <a:ahLst/>
            <a:cxnLst/>
            <a:rect l="l" t="t" r="r" b="b"/>
            <a:pathLst>
              <a:path w="531085" h="504048">
                <a:moveTo>
                  <a:pt x="0" y="0"/>
                </a:moveTo>
                <a:lnTo>
                  <a:pt x="531086" y="0"/>
                </a:lnTo>
                <a:lnTo>
                  <a:pt x="531086" y="504048"/>
                </a:lnTo>
                <a:lnTo>
                  <a:pt x="0" y="504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95252" y="1023765"/>
            <a:ext cx="9329988" cy="155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39"/>
              </a:lnSpc>
            </a:pPr>
            <a:r>
              <a:rPr lang="en-US" sz="9099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Review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9" name="Freeform 9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87327" y="9500411"/>
            <a:ext cx="23062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5D56501-F423-E498-494A-85FAF0870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746494"/>
              </p:ext>
            </p:extLst>
          </p:nvPr>
        </p:nvGraphicFramePr>
        <p:xfrm>
          <a:off x="1254205" y="2916992"/>
          <a:ext cx="15779590" cy="4786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918">
                  <a:extLst>
                    <a:ext uri="{9D8B030D-6E8A-4147-A177-3AD203B41FA5}">
                      <a16:colId xmlns:a16="http://schemas.microsoft.com/office/drawing/2014/main" val="3188319232"/>
                    </a:ext>
                  </a:extLst>
                </a:gridCol>
                <a:gridCol w="3155918">
                  <a:extLst>
                    <a:ext uri="{9D8B030D-6E8A-4147-A177-3AD203B41FA5}">
                      <a16:colId xmlns:a16="http://schemas.microsoft.com/office/drawing/2014/main" val="2918279012"/>
                    </a:ext>
                  </a:extLst>
                </a:gridCol>
                <a:gridCol w="3155918">
                  <a:extLst>
                    <a:ext uri="{9D8B030D-6E8A-4147-A177-3AD203B41FA5}">
                      <a16:colId xmlns:a16="http://schemas.microsoft.com/office/drawing/2014/main" val="1626995754"/>
                    </a:ext>
                  </a:extLst>
                </a:gridCol>
                <a:gridCol w="3155918">
                  <a:extLst>
                    <a:ext uri="{9D8B030D-6E8A-4147-A177-3AD203B41FA5}">
                      <a16:colId xmlns:a16="http://schemas.microsoft.com/office/drawing/2014/main" val="1466435467"/>
                    </a:ext>
                  </a:extLst>
                </a:gridCol>
                <a:gridCol w="3155918">
                  <a:extLst>
                    <a:ext uri="{9D8B030D-6E8A-4147-A177-3AD203B41FA5}">
                      <a16:colId xmlns:a16="http://schemas.microsoft.com/office/drawing/2014/main" val="884546115"/>
                    </a:ext>
                  </a:extLst>
                </a:gridCol>
              </a:tblGrid>
              <a:tr h="953308">
                <a:tc>
                  <a:txBody>
                    <a:bodyPr/>
                    <a:lstStyle/>
                    <a:p>
                      <a:pPr algn="ctr"/>
                      <a:r>
                        <a:rPr lang="en-US" sz="4400" b="1" i="0" dirty="0">
                          <a:effectLst/>
                        </a:rPr>
                        <a:t>Paper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i="0" dirty="0">
                          <a:effectLst/>
                        </a:rPr>
                        <a:t>Approach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i="0" dirty="0">
                          <a:effectLst/>
                        </a:rPr>
                        <a:t>Key Idea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i="0" dirty="0">
                          <a:effectLst/>
                        </a:rPr>
                        <a:t>Strengths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i="0" dirty="0">
                          <a:effectLst/>
                        </a:rPr>
                        <a:t>Limitations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731495"/>
                  </a:ext>
                </a:extLst>
              </a:tr>
              <a:tr h="1277791">
                <a:tc>
                  <a:txBody>
                    <a:bodyPr/>
                    <a:lstStyle/>
                    <a:p>
                      <a:pPr algn="ctr"/>
                      <a:endParaRPr lang="en-US" sz="2400" b="1" i="0" dirty="0">
                        <a:effectLst/>
                      </a:endParaRPr>
                    </a:p>
                    <a:p>
                      <a:pPr algn="ctr"/>
                      <a:r>
                        <a:rPr lang="en-US" sz="2400" b="1" i="0" dirty="0">
                          <a:effectLst/>
                        </a:rPr>
                        <a:t>Semantic Entropy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0" dirty="0">
                        <a:effectLst/>
                      </a:endParaRPr>
                    </a:p>
                    <a:p>
                      <a:pPr algn="ctr"/>
                      <a:r>
                        <a:rPr lang="en-US" sz="2400" b="0" i="0" dirty="0">
                          <a:effectLst/>
                        </a:rPr>
                        <a:t>Uncertainty-based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Multiple outputs </a:t>
                      </a:r>
                      <a:r>
                        <a:rPr lang="en-US" sz="2400" b="1" i="0" dirty="0">
                          <a:effectLst/>
                        </a:rPr>
                        <a:t>→</a:t>
                      </a:r>
                      <a:r>
                        <a:rPr lang="en-US" sz="2400" b="0" i="0" dirty="0">
                          <a:effectLst/>
                        </a:rPr>
                        <a:t> semantic clustering </a:t>
                      </a:r>
                      <a:r>
                        <a:rPr lang="en-US" sz="2400" b="1" i="0" dirty="0">
                          <a:effectLst/>
                        </a:rPr>
                        <a:t>→</a:t>
                      </a:r>
                      <a:r>
                        <a:rPr lang="en-US" sz="2400" b="0" i="0" dirty="0">
                          <a:effectLst/>
                        </a:rPr>
                        <a:t> entropy scoring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Language-agnostic, no labeled data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Compute-heavy, misses consistent wrong answers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516507"/>
                  </a:ext>
                </a:extLst>
              </a:tr>
              <a:tr h="1277791">
                <a:tc>
                  <a:txBody>
                    <a:bodyPr/>
                    <a:lstStyle/>
                    <a:p>
                      <a:pPr algn="ctr"/>
                      <a:endParaRPr lang="en-US" sz="2400" b="1" i="0" dirty="0">
                        <a:effectLst/>
                      </a:endParaRPr>
                    </a:p>
                    <a:p>
                      <a:pPr algn="ctr"/>
                      <a:r>
                        <a:rPr lang="en-US" sz="2400" b="1" i="0" dirty="0">
                          <a:effectLst/>
                        </a:rPr>
                        <a:t>LLM-CHECK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0" dirty="0">
                        <a:effectLst/>
                      </a:endParaRPr>
                    </a:p>
                    <a:p>
                      <a:pPr algn="ctr"/>
                      <a:r>
                        <a:rPr lang="en-US" sz="2400" b="0" i="0" dirty="0">
                          <a:effectLst/>
                        </a:rPr>
                        <a:t>Internal-signal analysis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Uses hidden states, attention, logit uncertainty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Fast, single-output, efficient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Needs white-box access, less interpretable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94072"/>
                  </a:ext>
                </a:extLst>
              </a:tr>
              <a:tr h="1277791">
                <a:tc>
                  <a:txBody>
                    <a:bodyPr/>
                    <a:lstStyle/>
                    <a:p>
                      <a:pPr algn="ctr"/>
                      <a:endParaRPr lang="en-US" sz="2400" b="1" i="0" dirty="0">
                        <a:effectLst/>
                      </a:endParaRPr>
                    </a:p>
                    <a:p>
                      <a:pPr algn="ctr"/>
                      <a:r>
                        <a:rPr lang="en-US" sz="2400" b="1" i="0" dirty="0">
                          <a:effectLst/>
                        </a:rPr>
                        <a:t>POLY-FEVER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0" dirty="0">
                        <a:effectLst/>
                      </a:endParaRPr>
                    </a:p>
                    <a:p>
                      <a:pPr algn="ctr"/>
                      <a:r>
                        <a:rPr lang="en-US" sz="2400" b="0" i="0" dirty="0">
                          <a:effectLst/>
                        </a:rPr>
                        <a:t>Multilingual benchmark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Translate claims</a:t>
                      </a:r>
                      <a:r>
                        <a:rPr lang="en-US" sz="2400" b="1" i="0" dirty="0">
                          <a:effectLst/>
                        </a:rPr>
                        <a:t> → </a:t>
                      </a:r>
                      <a:r>
                        <a:rPr lang="en-US" sz="2400" b="0" i="0" dirty="0">
                          <a:effectLst/>
                        </a:rPr>
                        <a:t>LLM verification </a:t>
                      </a:r>
                      <a:r>
                        <a:rPr lang="en-US" sz="2400" b="1" i="0" dirty="0">
                          <a:effectLst/>
                        </a:rPr>
                        <a:t>→ </a:t>
                      </a:r>
                      <a:r>
                        <a:rPr lang="en-US" sz="2400" b="0" i="0" dirty="0">
                          <a:effectLst/>
                        </a:rPr>
                        <a:t>accuracy evaluation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Large dataset (78K), cross-language comparison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effectLst/>
                        </a:rPr>
                        <a:t>Translation loss, binary labels only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2101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99964" y="3049968"/>
            <a:ext cx="4059336" cy="4429831"/>
          </a:xfrm>
          <a:custGeom>
            <a:avLst/>
            <a:gdLst/>
            <a:ahLst/>
            <a:cxnLst/>
            <a:rect l="l" t="t" r="r" b="b"/>
            <a:pathLst>
              <a:path w="4059336" h="4429831">
                <a:moveTo>
                  <a:pt x="0" y="0"/>
                </a:moveTo>
                <a:lnTo>
                  <a:pt x="4059336" y="0"/>
                </a:lnTo>
                <a:lnTo>
                  <a:pt x="4059336" y="4429830"/>
                </a:lnTo>
                <a:lnTo>
                  <a:pt x="0" y="442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8575" y="8267517"/>
            <a:ext cx="532701" cy="505581"/>
          </a:xfrm>
          <a:custGeom>
            <a:avLst/>
            <a:gdLst/>
            <a:ahLst/>
            <a:cxnLst/>
            <a:rect l="l" t="t" r="r" b="b"/>
            <a:pathLst>
              <a:path w="532701" h="505581">
                <a:moveTo>
                  <a:pt x="0" y="0"/>
                </a:moveTo>
                <a:lnTo>
                  <a:pt x="532701" y="0"/>
                </a:lnTo>
                <a:lnTo>
                  <a:pt x="532701" y="505582"/>
                </a:lnTo>
                <a:lnTo>
                  <a:pt x="0" y="505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83982" y="1103692"/>
            <a:ext cx="13520035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Gap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46345"/>
            <a:ext cx="10953545" cy="358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Existing methods focus on </a:t>
            </a:r>
            <a:r>
              <a:rPr lang="en-US" sz="29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English or multilingual</a:t>
            </a: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settings, but </a:t>
            </a:r>
            <a:r>
              <a:rPr lang="en-US" sz="29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lack Bangla</a:t>
            </a: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-specific evaluation.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Uncertainty-based methods require multiple generations (computationally expensive).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No supervised framework </a:t>
            </a:r>
            <a:r>
              <a:rPr lang="en-US" sz="29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targeting hallucinated Bangla text detection.</a:t>
            </a:r>
          </a:p>
          <a:p>
            <a:pPr algn="just">
              <a:lnSpc>
                <a:spcPts val="3640"/>
              </a:lnSpc>
            </a:pPr>
            <a:endParaRPr lang="en-US" sz="2999">
              <a:solidFill>
                <a:srgbClr val="000000"/>
              </a:solidFill>
              <a:latin typeface="Inter 1"/>
              <a:ea typeface="Inter 1"/>
              <a:cs typeface="Inter 1"/>
              <a:sym typeface="Inter 1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99431" y="2947927"/>
            <a:ext cx="7455191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🔍 Identified Research Gaps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2126" y="8275259"/>
            <a:ext cx="1593769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Therefore, a lightweight, supervised Bangla hallucination detection approach is needed.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512568" y="9500411"/>
            <a:ext cx="18014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81215" y="1250960"/>
            <a:ext cx="7125570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  <p:sp>
        <p:nvSpPr>
          <p:cNvPr id="6" name="Freeform 6"/>
          <p:cNvSpPr/>
          <p:nvPr/>
        </p:nvSpPr>
        <p:spPr>
          <a:xfrm>
            <a:off x="2895600" y="3887660"/>
            <a:ext cx="3160357" cy="1560640"/>
          </a:xfrm>
          <a:custGeom>
            <a:avLst/>
            <a:gdLst/>
            <a:ahLst/>
            <a:cxnLst/>
            <a:rect l="l" t="t" r="r" b="b"/>
            <a:pathLst>
              <a:path w="2943267" h="1462896">
                <a:moveTo>
                  <a:pt x="0" y="0"/>
                </a:moveTo>
                <a:lnTo>
                  <a:pt x="2943267" y="0"/>
                </a:lnTo>
                <a:lnTo>
                  <a:pt x="2943267" y="1462895"/>
                </a:lnTo>
                <a:lnTo>
                  <a:pt x="0" y="1462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12870" y="4408807"/>
            <a:ext cx="627253" cy="448703"/>
          </a:xfrm>
          <a:custGeom>
            <a:avLst/>
            <a:gdLst/>
            <a:ahLst/>
            <a:cxnLst/>
            <a:rect l="l" t="t" r="r" b="b"/>
            <a:pathLst>
              <a:path w="584166" h="420600">
                <a:moveTo>
                  <a:pt x="0" y="0"/>
                </a:moveTo>
                <a:lnTo>
                  <a:pt x="584166" y="0"/>
                </a:lnTo>
                <a:lnTo>
                  <a:pt x="584166" y="420599"/>
                </a:lnTo>
                <a:lnTo>
                  <a:pt x="0" y="420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50999" y="4186826"/>
            <a:ext cx="2120957" cy="830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2" b="1" spc="83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User prompt </a:t>
            </a:r>
          </a:p>
          <a:p>
            <a:pPr algn="ctr">
              <a:lnSpc>
                <a:spcPts val="3266"/>
              </a:lnSpc>
            </a:pPr>
            <a:r>
              <a:rPr lang="en-US" sz="2332" b="1" spc="83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Bangla Text</a:t>
            </a:r>
          </a:p>
        </p:txBody>
      </p:sp>
      <p:sp>
        <p:nvSpPr>
          <p:cNvPr id="9" name="Freeform 9"/>
          <p:cNvSpPr/>
          <p:nvPr/>
        </p:nvSpPr>
        <p:spPr>
          <a:xfrm>
            <a:off x="6423033" y="3887660"/>
            <a:ext cx="3160357" cy="1560640"/>
          </a:xfrm>
          <a:custGeom>
            <a:avLst/>
            <a:gdLst/>
            <a:ahLst/>
            <a:cxnLst/>
            <a:rect l="l" t="t" r="r" b="b"/>
            <a:pathLst>
              <a:path w="2943267" h="1462896">
                <a:moveTo>
                  <a:pt x="0" y="0"/>
                </a:moveTo>
                <a:lnTo>
                  <a:pt x="2943268" y="0"/>
                </a:lnTo>
                <a:lnTo>
                  <a:pt x="2943268" y="1462895"/>
                </a:lnTo>
                <a:lnTo>
                  <a:pt x="0" y="14628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834996" y="4182131"/>
            <a:ext cx="2389391" cy="830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2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LLM Generates </a:t>
            </a:r>
          </a:p>
          <a:p>
            <a:pPr algn="ctr">
              <a:lnSpc>
                <a:spcPts val="3266"/>
              </a:lnSpc>
            </a:pPr>
            <a:r>
              <a:rPr lang="en-US" sz="2332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Responses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40304" y="4408807"/>
            <a:ext cx="627253" cy="448703"/>
          </a:xfrm>
          <a:custGeom>
            <a:avLst/>
            <a:gdLst/>
            <a:ahLst/>
            <a:cxnLst/>
            <a:rect l="l" t="t" r="r" b="b"/>
            <a:pathLst>
              <a:path w="584166" h="420600">
                <a:moveTo>
                  <a:pt x="0" y="0"/>
                </a:moveTo>
                <a:lnTo>
                  <a:pt x="584166" y="0"/>
                </a:lnTo>
                <a:lnTo>
                  <a:pt x="584166" y="420599"/>
                </a:lnTo>
                <a:lnTo>
                  <a:pt x="0" y="420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950467" y="3887660"/>
            <a:ext cx="3160357" cy="1560640"/>
          </a:xfrm>
          <a:custGeom>
            <a:avLst/>
            <a:gdLst/>
            <a:ahLst/>
            <a:cxnLst/>
            <a:rect l="l" t="t" r="r" b="b"/>
            <a:pathLst>
              <a:path w="2943267" h="1462896">
                <a:moveTo>
                  <a:pt x="0" y="0"/>
                </a:moveTo>
                <a:lnTo>
                  <a:pt x="2943268" y="0"/>
                </a:lnTo>
                <a:lnTo>
                  <a:pt x="2943268" y="1462895"/>
                </a:lnTo>
                <a:lnTo>
                  <a:pt x="0" y="1462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70175" y="4186826"/>
            <a:ext cx="2607120" cy="830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2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Dataset  creation</a:t>
            </a:r>
          </a:p>
          <a:p>
            <a:pPr algn="ctr">
              <a:lnSpc>
                <a:spcPts val="3266"/>
              </a:lnSpc>
            </a:pPr>
            <a:r>
              <a:rPr lang="en-US" sz="2332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&amp; annotation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067738" y="4408807"/>
            <a:ext cx="627253" cy="448703"/>
          </a:xfrm>
          <a:custGeom>
            <a:avLst/>
            <a:gdLst/>
            <a:ahLst/>
            <a:cxnLst/>
            <a:rect l="l" t="t" r="r" b="b"/>
            <a:pathLst>
              <a:path w="584166" h="420600">
                <a:moveTo>
                  <a:pt x="0" y="0"/>
                </a:moveTo>
                <a:lnTo>
                  <a:pt x="584166" y="0"/>
                </a:lnTo>
                <a:lnTo>
                  <a:pt x="584166" y="420599"/>
                </a:lnTo>
                <a:lnTo>
                  <a:pt x="0" y="420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94991" y="3863732"/>
            <a:ext cx="2943267" cy="1462896"/>
          </a:xfrm>
          <a:custGeom>
            <a:avLst/>
            <a:gdLst/>
            <a:ahLst/>
            <a:cxnLst/>
            <a:rect l="l" t="t" r="r" b="b"/>
            <a:pathLst>
              <a:path w="2943267" h="1462896">
                <a:moveTo>
                  <a:pt x="0" y="0"/>
                </a:moveTo>
                <a:lnTo>
                  <a:pt x="2943267" y="0"/>
                </a:lnTo>
                <a:lnTo>
                  <a:pt x="2943267" y="1462896"/>
                </a:lnTo>
                <a:lnTo>
                  <a:pt x="0" y="14628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459123" y="4186826"/>
            <a:ext cx="1601508" cy="77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2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Data Pre- </a:t>
            </a:r>
          </a:p>
          <a:p>
            <a:pPr algn="ctr">
              <a:lnSpc>
                <a:spcPts val="3266"/>
              </a:lnSpc>
            </a:pPr>
            <a:r>
              <a:rPr lang="en-US" sz="2332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Processing</a:t>
            </a:r>
          </a:p>
        </p:txBody>
      </p:sp>
      <p:sp>
        <p:nvSpPr>
          <p:cNvPr id="17" name="Freeform 17"/>
          <p:cNvSpPr/>
          <p:nvPr/>
        </p:nvSpPr>
        <p:spPr>
          <a:xfrm rot="5400000">
            <a:off x="14932767" y="5412414"/>
            <a:ext cx="623197" cy="451623"/>
          </a:xfrm>
          <a:custGeom>
            <a:avLst/>
            <a:gdLst/>
            <a:ahLst/>
            <a:cxnLst/>
            <a:rect l="l" t="t" r="r" b="b"/>
            <a:pathLst>
              <a:path w="584166" h="420600">
                <a:moveTo>
                  <a:pt x="0" y="0"/>
                </a:moveTo>
                <a:lnTo>
                  <a:pt x="584166" y="0"/>
                </a:lnTo>
                <a:lnTo>
                  <a:pt x="584166" y="420600"/>
                </a:lnTo>
                <a:lnTo>
                  <a:pt x="0" y="42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270947" y="5910794"/>
            <a:ext cx="4367312" cy="2170690"/>
          </a:xfrm>
          <a:custGeom>
            <a:avLst/>
            <a:gdLst/>
            <a:ahLst/>
            <a:cxnLst/>
            <a:rect l="l" t="t" r="r" b="b"/>
            <a:pathLst>
              <a:path w="4367312" h="2170690">
                <a:moveTo>
                  <a:pt x="0" y="0"/>
                </a:moveTo>
                <a:lnTo>
                  <a:pt x="4367311" y="0"/>
                </a:lnTo>
                <a:lnTo>
                  <a:pt x="4367311" y="2170690"/>
                </a:lnTo>
                <a:lnTo>
                  <a:pt x="0" y="2170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9" name="TextBox 19"/>
          <p:cNvSpPr txBox="1"/>
          <p:nvPr/>
        </p:nvSpPr>
        <p:spPr>
          <a:xfrm>
            <a:off x="12624685" y="6436344"/>
            <a:ext cx="3823504" cy="948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1" dirty="0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Pre trained model</a:t>
            </a:r>
          </a:p>
          <a:p>
            <a:pPr algn="ctr">
              <a:lnSpc>
                <a:spcPts val="4297"/>
              </a:lnSpc>
            </a:pPr>
            <a:r>
              <a:rPr lang="en-US" sz="3069" b="1" dirty="0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(</a:t>
            </a:r>
            <a:r>
              <a:rPr lang="en-US" sz="3069" b="1" dirty="0" err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mBert</a:t>
            </a:r>
            <a:r>
              <a:rPr lang="en-US" sz="3069" b="1" dirty="0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 / </a:t>
            </a:r>
            <a:r>
              <a:rPr lang="en-US" sz="3069" b="1" dirty="0" err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BanglaBert</a:t>
            </a:r>
            <a:r>
              <a:rPr lang="en-US" sz="3069" b="1" dirty="0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)</a:t>
            </a:r>
          </a:p>
        </p:txBody>
      </p:sp>
      <p:sp>
        <p:nvSpPr>
          <p:cNvPr id="20" name="Freeform 20"/>
          <p:cNvSpPr/>
          <p:nvPr/>
        </p:nvSpPr>
        <p:spPr>
          <a:xfrm rot="-10800000">
            <a:off x="11643693" y="6700353"/>
            <a:ext cx="627253" cy="448703"/>
          </a:xfrm>
          <a:custGeom>
            <a:avLst/>
            <a:gdLst/>
            <a:ahLst/>
            <a:cxnLst/>
            <a:rect l="l" t="t" r="r" b="b"/>
            <a:pathLst>
              <a:path w="584166" h="420600">
                <a:moveTo>
                  <a:pt x="0" y="0"/>
                </a:moveTo>
                <a:lnTo>
                  <a:pt x="584167" y="0"/>
                </a:lnTo>
                <a:lnTo>
                  <a:pt x="584167" y="420600"/>
                </a:lnTo>
                <a:lnTo>
                  <a:pt x="0" y="42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949754" y="5935338"/>
            <a:ext cx="4689437" cy="2315726"/>
          </a:xfrm>
          <a:custGeom>
            <a:avLst/>
            <a:gdLst/>
            <a:ahLst/>
            <a:cxnLst/>
            <a:rect l="l" t="t" r="r" b="b"/>
            <a:pathLst>
              <a:path w="4367312" h="2170690">
                <a:moveTo>
                  <a:pt x="0" y="0"/>
                </a:moveTo>
                <a:lnTo>
                  <a:pt x="4367312" y="0"/>
                </a:lnTo>
                <a:lnTo>
                  <a:pt x="4367312" y="2170690"/>
                </a:lnTo>
                <a:lnTo>
                  <a:pt x="0" y="2170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112236" y="6480383"/>
            <a:ext cx="2773990" cy="943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Hallucination </a:t>
            </a:r>
          </a:p>
          <a:p>
            <a:pPr algn="ctr">
              <a:lnSpc>
                <a:spcPts val="4297"/>
              </a:lnSpc>
            </a:pPr>
            <a:r>
              <a:rPr lang="en-US" sz="3069" b="1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Classification</a:t>
            </a:r>
          </a:p>
        </p:txBody>
      </p:sp>
      <p:sp>
        <p:nvSpPr>
          <p:cNvPr id="23" name="Freeform 23"/>
          <p:cNvSpPr/>
          <p:nvPr/>
        </p:nvSpPr>
        <p:spPr>
          <a:xfrm rot="-10800000">
            <a:off x="6690038" y="6785838"/>
            <a:ext cx="627253" cy="448703"/>
          </a:xfrm>
          <a:custGeom>
            <a:avLst/>
            <a:gdLst/>
            <a:ahLst/>
            <a:cxnLst/>
            <a:rect l="l" t="t" r="r" b="b"/>
            <a:pathLst>
              <a:path w="584166" h="420600">
                <a:moveTo>
                  <a:pt x="0" y="0"/>
                </a:moveTo>
                <a:lnTo>
                  <a:pt x="584166" y="0"/>
                </a:lnTo>
                <a:lnTo>
                  <a:pt x="584166" y="420600"/>
                </a:lnTo>
                <a:lnTo>
                  <a:pt x="0" y="42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443797" y="6389506"/>
            <a:ext cx="3160357" cy="1560640"/>
          </a:xfrm>
          <a:custGeom>
            <a:avLst/>
            <a:gdLst/>
            <a:ahLst/>
            <a:cxnLst/>
            <a:rect l="l" t="t" r="r" b="b"/>
            <a:pathLst>
              <a:path w="2943267" h="1462896">
                <a:moveTo>
                  <a:pt x="0" y="0"/>
                </a:moveTo>
                <a:lnTo>
                  <a:pt x="2943267" y="0"/>
                </a:lnTo>
                <a:lnTo>
                  <a:pt x="2943267" y="1462895"/>
                </a:lnTo>
                <a:lnTo>
                  <a:pt x="0" y="1462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874150" y="6700354"/>
            <a:ext cx="2394048" cy="38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2" b="1" dirty="0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Final Evaluation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27" name="Freeform 27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7493756" y="9500411"/>
            <a:ext cx="21776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86200" y="2711461"/>
            <a:ext cx="10709194" cy="5726419"/>
          </a:xfrm>
          <a:custGeom>
            <a:avLst/>
            <a:gdLst/>
            <a:ahLst/>
            <a:cxnLst/>
            <a:rect l="l" t="t" r="r" b="b"/>
            <a:pathLst>
              <a:path w="10570471" h="5693605">
                <a:moveTo>
                  <a:pt x="0" y="0"/>
                </a:moveTo>
                <a:lnTo>
                  <a:pt x="10570471" y="0"/>
                </a:lnTo>
                <a:lnTo>
                  <a:pt x="10570471" y="5693605"/>
                </a:lnTo>
                <a:lnTo>
                  <a:pt x="0" y="5693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294" b="-639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289407" y="1250960"/>
            <a:ext cx="10305987" cy="140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0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  <a:hlinkClick r:id="rId5"/>
              </a:rPr>
              <a:t>Dataset</a:t>
            </a:r>
            <a:r>
              <a:rPr lang="en-US" sz="80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 Construction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7" name="Freeform 7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487862" y="9500411"/>
            <a:ext cx="22955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07A94E83-EA57-5DCD-7840-176A0554845C}"/>
              </a:ext>
            </a:extLst>
          </p:cNvPr>
          <p:cNvSpPr/>
          <p:nvPr/>
        </p:nvSpPr>
        <p:spPr>
          <a:xfrm>
            <a:off x="3048000" y="8647492"/>
            <a:ext cx="431625" cy="449518"/>
          </a:xfrm>
          <a:custGeom>
            <a:avLst/>
            <a:gdLst/>
            <a:ahLst/>
            <a:cxnLst/>
            <a:rect l="l" t="t" r="r" b="b"/>
            <a:pathLst>
              <a:path w="532701" h="505581">
                <a:moveTo>
                  <a:pt x="0" y="0"/>
                </a:moveTo>
                <a:lnTo>
                  <a:pt x="532701" y="0"/>
                </a:lnTo>
                <a:lnTo>
                  <a:pt x="532701" y="505582"/>
                </a:lnTo>
                <a:lnTo>
                  <a:pt x="0" y="505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A71FA95-D8CE-76FE-5166-4DB64DBBD21F}"/>
              </a:ext>
            </a:extLst>
          </p:cNvPr>
          <p:cNvSpPr txBox="1"/>
          <p:nvPr/>
        </p:nvSpPr>
        <p:spPr>
          <a:xfrm>
            <a:off x="3733549" y="8599170"/>
            <a:ext cx="12913020" cy="497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800" b="1" dirty="0"/>
              <a:t>The ground truth was taken from a verified published book to ensure factual accuracy.</a:t>
            </a:r>
            <a:endParaRPr lang="en-US" sz="28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01400" y="-1547319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89407" y="1033569"/>
            <a:ext cx="10305987" cy="1375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Sample </a:t>
            </a:r>
            <a:r>
              <a:rPr lang="en-US" sz="72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  <a:hlinkClick r:id="rId4"/>
              </a:rPr>
              <a:t>Dataset </a:t>
            </a:r>
            <a:endParaRPr lang="en-US" sz="7200" b="1" dirty="0">
              <a:solidFill>
                <a:srgbClr val="2E58A6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24000" y="2675044"/>
            <a:ext cx="14630400" cy="4215309"/>
          </a:xfrm>
          <a:custGeom>
            <a:avLst/>
            <a:gdLst/>
            <a:ahLst/>
            <a:cxnLst/>
            <a:rect l="l" t="t" r="r" b="b"/>
            <a:pathLst>
              <a:path w="10437770" h="3280175">
                <a:moveTo>
                  <a:pt x="0" y="0"/>
                </a:moveTo>
                <a:lnTo>
                  <a:pt x="10437770" y="0"/>
                </a:lnTo>
                <a:lnTo>
                  <a:pt x="10437770" y="3280175"/>
                </a:lnTo>
                <a:lnTo>
                  <a:pt x="0" y="3280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2" t="-1146" r="-8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10091" y="7830138"/>
            <a:ext cx="5311278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Total Samples:</a:t>
            </a:r>
            <a:r>
              <a:rPr lang="en-US" sz="26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7,043 labeled instances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1929" y="7061795"/>
            <a:ext cx="467449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📁 Dataset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85748" y="7816810"/>
            <a:ext cx="5262962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Binary Classification: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                   </a:t>
            </a: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0 → Hallucinated</a:t>
            </a: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                        1 → Correct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93939" y="7061795"/>
            <a:ext cx="4477647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🏷 Labeling Strategy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52712" y="7233908"/>
            <a:ext cx="5801964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endParaRPr/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Noise and duplicate</a:t>
            </a: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removal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80% Training / 20% Testing</a:t>
            </a: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split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58843" y="7082704"/>
            <a:ext cx="4477647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⚙ Data Preparation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388207" y="9500411"/>
            <a:ext cx="557770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509714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385212" y="2302350"/>
            <a:ext cx="10706672" cy="5237741"/>
          </a:xfrm>
          <a:custGeom>
            <a:avLst/>
            <a:gdLst/>
            <a:ahLst/>
            <a:cxnLst/>
            <a:rect l="l" t="t" r="r" b="b"/>
            <a:pathLst>
              <a:path w="10706672" h="5237741">
                <a:moveTo>
                  <a:pt x="0" y="0"/>
                </a:moveTo>
                <a:lnTo>
                  <a:pt x="10706672" y="0"/>
                </a:lnTo>
                <a:lnTo>
                  <a:pt x="10706672" y="5237740"/>
                </a:lnTo>
                <a:lnTo>
                  <a:pt x="0" y="5237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1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82163" y="1163101"/>
            <a:ext cx="4498604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5256" y="2881828"/>
            <a:ext cx="6752419" cy="501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Two transformer-based models were evaluated: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mBERT (Multilingual BERT)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BanglaBERT (Bangla-specific pretrained model)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Inter 1"/>
              <a:ea typeface="Inter 1"/>
              <a:cs typeface="Inter 1"/>
              <a:sym typeface="Inter 1"/>
            </a:endParaRP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Evaluated on: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Accuracy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Precision (Macro)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Recall (Macro)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F1-Score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07391" y="8230552"/>
            <a:ext cx="14844642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BanglaBERT achieved consistently higher performance across all metrics.</a:t>
            </a:r>
          </a:p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accuracy improved from 0.78 to 0.82.</a:t>
            </a:r>
          </a:p>
          <a:p>
            <a:pPr algn="ctr">
              <a:lnSpc>
                <a:spcPts val="3919"/>
              </a:lnSpc>
            </a:pPr>
            <a:endParaRPr lang="en-US" sz="27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182163" y="8287702"/>
            <a:ext cx="532701" cy="505581"/>
          </a:xfrm>
          <a:custGeom>
            <a:avLst/>
            <a:gdLst/>
            <a:ahLst/>
            <a:cxnLst/>
            <a:rect l="l" t="t" r="r" b="b"/>
            <a:pathLst>
              <a:path w="532701" h="505581">
                <a:moveTo>
                  <a:pt x="0" y="0"/>
                </a:moveTo>
                <a:lnTo>
                  <a:pt x="532701" y="0"/>
                </a:lnTo>
                <a:lnTo>
                  <a:pt x="532701" y="505582"/>
                </a:lnTo>
                <a:lnTo>
                  <a:pt x="0" y="50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415294" y="9500411"/>
            <a:ext cx="37469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509714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34895" y="3167793"/>
            <a:ext cx="11412880" cy="4762309"/>
          </a:xfrm>
          <a:custGeom>
            <a:avLst/>
            <a:gdLst/>
            <a:ahLst/>
            <a:cxnLst/>
            <a:rect l="l" t="t" r="r" b="b"/>
            <a:pathLst>
              <a:path w="11412880" h="4762309">
                <a:moveTo>
                  <a:pt x="0" y="0"/>
                </a:moveTo>
                <a:lnTo>
                  <a:pt x="11412880" y="0"/>
                </a:lnTo>
                <a:lnTo>
                  <a:pt x="11412880" y="4762309"/>
                </a:lnTo>
                <a:lnTo>
                  <a:pt x="0" y="4762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8" t="-446" r="-142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605803"/>
            <a:ext cx="1581222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Metric-wise Performance ComparisonMetric-wise Performance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7184" y="4081392"/>
            <a:ext cx="5474398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📌 </a:t>
            </a: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Key Observations </a:t>
            </a:r>
          </a:p>
          <a:p>
            <a:pPr algn="l">
              <a:lnSpc>
                <a:spcPts val="3640"/>
              </a:lnSpc>
            </a:pPr>
            <a:endParaRPr lang="en-US" sz="2600" b="1">
              <a:solidFill>
                <a:srgbClr val="000000"/>
              </a:solidFill>
              <a:latin typeface="Inter 1 Bold"/>
              <a:ea typeface="Inter 1 Bold"/>
              <a:cs typeface="Inter 1 Bold"/>
              <a:sym typeface="Inter 1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4% improvement </a:t>
            </a: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in overall accuracy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Stronger detection of correct responses (Class 1)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Better class balance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Reduced misclassification errors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9" name="Freeform 9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34587" y="9509714"/>
            <a:ext cx="536101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195543" y="1973603"/>
            <a:ext cx="6268088" cy="144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8400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Limitations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850676" y="3932726"/>
            <a:ext cx="4710064" cy="4156631"/>
          </a:xfrm>
          <a:custGeom>
            <a:avLst/>
            <a:gdLst/>
            <a:ahLst/>
            <a:cxnLst/>
            <a:rect l="l" t="t" r="r" b="b"/>
            <a:pathLst>
              <a:path w="4710064" h="4156631">
                <a:moveTo>
                  <a:pt x="0" y="0"/>
                </a:moveTo>
                <a:lnTo>
                  <a:pt x="4710064" y="0"/>
                </a:lnTo>
                <a:lnTo>
                  <a:pt x="4710064" y="4156631"/>
                </a:lnTo>
                <a:lnTo>
                  <a:pt x="0" y="4156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29430" y="3968952"/>
            <a:ext cx="10629870" cy="464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186"/>
              </a:lnSpc>
              <a:buFont typeface="Arial"/>
              <a:buChar char="•"/>
            </a:pPr>
            <a:r>
              <a:rPr lang="en-US" sz="2600" spc="17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The dataset size is limited compared to large-scale benchmarks.</a:t>
            </a:r>
          </a:p>
          <a:p>
            <a:pPr marL="561341" lvl="1" indent="-280670" algn="l">
              <a:lnSpc>
                <a:spcPts val="4186"/>
              </a:lnSpc>
              <a:buFont typeface="Arial"/>
              <a:buChar char="•"/>
            </a:pPr>
            <a:r>
              <a:rPr lang="en-US" sz="2600" spc="17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Focused primarily on the Bangla language domain.</a:t>
            </a:r>
          </a:p>
          <a:p>
            <a:pPr marL="561341" lvl="1" indent="-280670" algn="l">
              <a:lnSpc>
                <a:spcPts val="4186"/>
              </a:lnSpc>
              <a:buFont typeface="Arial"/>
              <a:buChar char="•"/>
            </a:pPr>
            <a:r>
              <a:rPr lang="en-US" sz="2600" spc="17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Model performance depends on the quality of labeled data.</a:t>
            </a:r>
          </a:p>
          <a:p>
            <a:pPr marL="561341" lvl="1" indent="-280670" algn="l">
              <a:lnSpc>
                <a:spcPts val="4186"/>
              </a:lnSpc>
              <a:buFont typeface="Arial"/>
              <a:buChar char="•"/>
            </a:pPr>
            <a:r>
              <a:rPr lang="en-US" sz="2600" spc="17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Complex hallucination types (subtle factual distortion) remain challenging.</a:t>
            </a:r>
          </a:p>
          <a:p>
            <a:pPr marL="561341" lvl="1" indent="-280670" algn="l">
              <a:lnSpc>
                <a:spcPts val="4186"/>
              </a:lnSpc>
              <a:buFont typeface="Arial"/>
              <a:buChar char="•"/>
            </a:pPr>
            <a:r>
              <a:rPr lang="en-US" sz="2600" spc="17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Evaluation restricted to selected LLM outputs.</a:t>
            </a:r>
          </a:p>
          <a:p>
            <a:pPr algn="just">
              <a:lnSpc>
                <a:spcPts val="3640"/>
              </a:lnSpc>
            </a:pPr>
            <a:endParaRPr lang="en-US" sz="2600" spc="176">
              <a:solidFill>
                <a:srgbClr val="000000"/>
              </a:solidFill>
              <a:latin typeface="Inter 1"/>
              <a:ea typeface="Inter 1"/>
              <a:cs typeface="Inter 1"/>
              <a:sym typeface="Inter 1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9" name="Freeform 9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03923" y="9500411"/>
            <a:ext cx="39743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65376" y="2486132"/>
            <a:ext cx="5137857" cy="7029407"/>
          </a:xfrm>
          <a:custGeom>
            <a:avLst/>
            <a:gdLst/>
            <a:ahLst/>
            <a:cxnLst/>
            <a:rect l="l" t="t" r="r" b="b"/>
            <a:pathLst>
              <a:path w="5137857" h="7029407">
                <a:moveTo>
                  <a:pt x="0" y="0"/>
                </a:moveTo>
                <a:lnTo>
                  <a:pt x="5137858" y="0"/>
                </a:lnTo>
                <a:lnTo>
                  <a:pt x="5137858" y="7029407"/>
                </a:lnTo>
                <a:lnTo>
                  <a:pt x="0" y="70294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84942" y="1670157"/>
            <a:ext cx="6299093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Future 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2294" y="4195916"/>
            <a:ext cx="8785295" cy="393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159" lvl="1" indent="-401079" algn="just">
              <a:lnSpc>
                <a:spcPts val="5201"/>
              </a:lnSpc>
              <a:buFont typeface="Arial"/>
              <a:buChar char="•"/>
            </a:pPr>
            <a:r>
              <a:rPr lang="en-US" sz="3715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Increase</a:t>
            </a: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dataset size</a:t>
            </a:r>
          </a:p>
          <a:p>
            <a:pPr marL="802159" lvl="1" indent="-401079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Add </a:t>
            </a:r>
            <a:r>
              <a:rPr lang="en-US" sz="3715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multi-class</a:t>
            </a: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labeling</a:t>
            </a:r>
          </a:p>
          <a:p>
            <a:pPr marL="802159" lvl="1" indent="-401079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Improve </a:t>
            </a:r>
            <a:r>
              <a:rPr lang="en-US" sz="3715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model </a:t>
            </a: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architecture</a:t>
            </a:r>
          </a:p>
          <a:p>
            <a:pPr marL="802159" lvl="1" indent="-401079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Apply </a:t>
            </a:r>
            <a:r>
              <a:rPr lang="en-US" sz="3715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explainable AI</a:t>
            </a:r>
          </a:p>
          <a:p>
            <a:pPr marL="802159" lvl="1" indent="-401079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Extend to </a:t>
            </a:r>
            <a:r>
              <a:rPr lang="en-US" sz="3715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cross-lingual</a:t>
            </a:r>
            <a:r>
              <a:rPr lang="en-US" sz="3715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settings</a:t>
            </a:r>
          </a:p>
          <a:p>
            <a:pPr algn="just">
              <a:lnSpc>
                <a:spcPts val="5201"/>
              </a:lnSpc>
            </a:pPr>
            <a:endParaRPr lang="en-US" sz="3715">
              <a:solidFill>
                <a:srgbClr val="000000"/>
              </a:solidFill>
              <a:latin typeface="Inter 1"/>
              <a:ea typeface="Inter 1"/>
              <a:cs typeface="Inter 1"/>
              <a:sym typeface="Inter 1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8" name="Freeform 8"/>
          <p:cNvSpPr/>
          <p:nvPr/>
        </p:nvSpPr>
        <p:spPr>
          <a:xfrm>
            <a:off x="17259300" y="941805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398387" y="9500411"/>
            <a:ext cx="40850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258300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02788" y="-2218526"/>
            <a:ext cx="7385212" cy="3247226"/>
          </a:xfrm>
          <a:custGeom>
            <a:avLst/>
            <a:gdLst/>
            <a:ahLst/>
            <a:cxnLst/>
            <a:rect l="l" t="t" r="r" b="b"/>
            <a:pathLst>
              <a:path w="7385212" h="3247226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99628" y="1781478"/>
            <a:ext cx="6228640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4471" y="4152900"/>
            <a:ext cx="15959058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lnSpc>
                <a:spcPts val="3640"/>
              </a:lnSpc>
              <a:buFont typeface="+mj-lt"/>
              <a:buAutoNum type="arabicPeriod"/>
            </a:pPr>
            <a:r>
              <a:rPr lang="en-US" sz="3200" i="0" dirty="0">
                <a:solidFill>
                  <a:srgbClr val="000000"/>
                </a:solidFill>
                <a:effectLst/>
                <a:latin typeface="rival-sans"/>
                <a:hlinkClick r:id="rId4"/>
              </a:rPr>
              <a:t>Detecting Hallucinations in Large Language Model Generation: A Token Probability Approach</a:t>
            </a:r>
            <a:endParaRPr lang="en-US" sz="3200" i="0" dirty="0">
              <a:solidFill>
                <a:srgbClr val="000000"/>
              </a:solidFill>
              <a:effectLst/>
              <a:latin typeface="rival-sans"/>
            </a:endParaRPr>
          </a:p>
          <a:p>
            <a:pPr marL="514350" indent="-514350" algn="just">
              <a:lnSpc>
                <a:spcPts val="3640"/>
              </a:lnSpc>
              <a:buFont typeface="+mj-lt"/>
              <a:buAutoNum type="arabicPeriod"/>
            </a:pPr>
            <a:endParaRPr lang="en-US" sz="3200" i="0" dirty="0">
              <a:solidFill>
                <a:srgbClr val="000000"/>
              </a:solidFill>
              <a:effectLst/>
              <a:latin typeface="rival-sans"/>
            </a:endParaRPr>
          </a:p>
          <a:p>
            <a:pPr marL="514350" indent="-514350" algn="just">
              <a:lnSpc>
                <a:spcPts val="3640"/>
              </a:lnSpc>
              <a:buFont typeface="+mj-lt"/>
              <a:buAutoNum type="arabicPeriod"/>
            </a:pPr>
            <a:r>
              <a:rPr lang="en-US" sz="3200" i="0" dirty="0">
                <a:solidFill>
                  <a:srgbClr val="000000"/>
                </a:solidFill>
                <a:effectLst/>
                <a:latin typeface="rival-sans"/>
                <a:hlinkClick r:id="rId5"/>
              </a:rPr>
              <a:t>Large Language Models Hallucination: A Comprehensive Survey</a:t>
            </a:r>
            <a:endParaRPr lang="en-US" sz="3200" i="0" dirty="0">
              <a:solidFill>
                <a:srgbClr val="000000"/>
              </a:solidFill>
              <a:effectLst/>
              <a:latin typeface="rival-sans"/>
            </a:endParaRPr>
          </a:p>
          <a:p>
            <a:pPr marL="514350" indent="-514350" algn="just">
              <a:lnSpc>
                <a:spcPts val="3640"/>
              </a:lnSpc>
              <a:buFont typeface="+mj-lt"/>
              <a:buAutoNum type="arabicPeriod"/>
            </a:pPr>
            <a:endParaRPr lang="en-US" sz="3200" i="0" dirty="0">
              <a:solidFill>
                <a:srgbClr val="000000"/>
              </a:solidFill>
              <a:effectLst/>
              <a:latin typeface="rival-sans"/>
            </a:endParaRPr>
          </a:p>
          <a:p>
            <a:pPr marL="514350" indent="-514350" algn="just">
              <a:lnSpc>
                <a:spcPts val="3640"/>
              </a:lnSpc>
              <a:buFont typeface="+mj-lt"/>
              <a:buAutoNum type="arabicPeriod"/>
            </a:pPr>
            <a:r>
              <a:rPr lang="en-US" sz="3200" i="0" dirty="0">
                <a:solidFill>
                  <a:srgbClr val="000000"/>
                </a:solidFill>
                <a:effectLst/>
                <a:latin typeface="Lucida Grande"/>
                <a:hlinkClick r:id="rId6"/>
              </a:rPr>
              <a:t>Poly-FEVER: A Multilingual Fact Verification Benchmark for Hallucination Detection in Large Language Models</a:t>
            </a:r>
            <a:endParaRPr lang="en-US" sz="3200" i="0" dirty="0">
              <a:solidFill>
                <a:srgbClr val="000000"/>
              </a:solidFill>
              <a:effectLst/>
              <a:latin typeface="Lucida Grande"/>
            </a:endParaRPr>
          </a:p>
          <a:p>
            <a:pPr algn="just">
              <a:lnSpc>
                <a:spcPts val="3640"/>
              </a:lnSpc>
            </a:pPr>
            <a:endParaRPr lang="en-US" sz="3200" i="0" dirty="0">
              <a:solidFill>
                <a:srgbClr val="000000"/>
              </a:solidFill>
              <a:effectLst/>
              <a:latin typeface="rival-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  <p:sp>
        <p:nvSpPr>
          <p:cNvPr id="9" name="Freeform 9"/>
          <p:cNvSpPr/>
          <p:nvPr/>
        </p:nvSpPr>
        <p:spPr>
          <a:xfrm>
            <a:off x="17330658" y="9397737"/>
            <a:ext cx="686677" cy="686677"/>
          </a:xfrm>
          <a:custGeom>
            <a:avLst/>
            <a:gdLst/>
            <a:ahLst/>
            <a:cxnLst/>
            <a:rect l="l" t="t" r="r" b="b"/>
            <a:pathLst>
              <a:path w="686677" h="686677">
                <a:moveTo>
                  <a:pt x="0" y="0"/>
                </a:moveTo>
                <a:lnTo>
                  <a:pt x="686677" y="0"/>
                </a:lnTo>
                <a:lnTo>
                  <a:pt x="686677" y="686677"/>
                </a:lnTo>
                <a:lnTo>
                  <a:pt x="0" y="686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02018" y="9500411"/>
            <a:ext cx="543959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70223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58129" y="-2195789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97626" y="3777146"/>
            <a:ext cx="9292749" cy="215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1" dirty="0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0" y="8623094"/>
            <a:ext cx="8829871" cy="3882432"/>
          </a:xfrm>
          <a:custGeom>
            <a:avLst/>
            <a:gdLst/>
            <a:ahLst/>
            <a:cxnLst/>
            <a:rect l="l" t="t" r="r" b="b"/>
            <a:pathLst>
              <a:path w="8829871" h="3882432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55256" y="504825"/>
            <a:ext cx="8088744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United International University | FYDP III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790</Words>
  <Application>Microsoft Office PowerPoint</Application>
  <PresentationFormat>Custom</PresentationFormat>
  <Paragraphs>180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Inter 2 Bold</vt:lpstr>
      <vt:lpstr>Calibri</vt:lpstr>
      <vt:lpstr>Canva Sans</vt:lpstr>
      <vt:lpstr>Inter 1</vt:lpstr>
      <vt:lpstr>rival-sans</vt:lpstr>
      <vt:lpstr>Canva Sans Bold</vt:lpstr>
      <vt:lpstr>Inter 1 Bold</vt:lpstr>
      <vt:lpstr>Roboto Bold</vt:lpstr>
      <vt:lpstr>Lucida Grande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Minimalist Thesis Defense Presentation</dc:title>
  <cp:lastModifiedBy>Israt Jahan Rani</cp:lastModifiedBy>
  <cp:revision>12</cp:revision>
  <dcterms:created xsi:type="dcterms:W3CDTF">2006-08-16T00:00:00Z</dcterms:created>
  <dcterms:modified xsi:type="dcterms:W3CDTF">2026-06-11T13:40:47Z</dcterms:modified>
  <dc:identifier>DAHCZNFE0Ys</dc:identifier>
</cp:coreProperties>
</file>